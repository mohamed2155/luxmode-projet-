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6" d="100"/>
          <a:sy n="106" d="100"/>
        </p:scale>
        <p:origin x="366" y="-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2703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mohamed2155/LUXMODE-Projet-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hyperlink" Target="http://www.linkedin.com/in/mohamed-reda-namla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://www.linkedin.com/in/mohamed-reda-namla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hyperlink" Target="https://github.com/mohamed2155/LUXMODE-Projet-" TargetMode="Externa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201168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737360"/>
            <a:ext cx="2377440" cy="292608"/>
          </a:xfrm>
          <a:prstGeom prst="roundRect">
            <a:avLst>
              <a:gd name="adj" fmla="val 25000"/>
            </a:avLst>
          </a:prstGeom>
          <a:solidFill>
            <a:srgbClr val="3D8EF0">
              <a:alpha val="80000"/>
            </a:srgbClr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7373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ALTERNANCE · M2 SUPPLY CHAIN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21031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Data-Driven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LUXMODE S.A.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457200" y="3520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complète de la Supply Chain · Excel · SQL · Power BI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40233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243560"/>
          </a:solidFill>
          <a:ln w="12700">
            <a:solidFill>
              <a:srgbClr val="3D8EF0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09651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04672" y="4023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377440" y="40233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243560"/>
          </a:solidFill>
          <a:ln w="12700">
            <a:solidFill>
              <a:srgbClr val="3D8EF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168" y="4096512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724912" y="4023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297680" y="402336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243560"/>
          </a:solidFill>
          <a:ln w="12700">
            <a:solidFill>
              <a:srgbClr val="3D8EF0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7408" y="409651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45152" y="4023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126480" y="1371600"/>
            <a:ext cx="2834640" cy="3200400"/>
          </a:xfrm>
          <a:prstGeom prst="roundRect">
            <a:avLst>
              <a:gd name="adj" fmla="val 3871"/>
            </a:avLst>
          </a:prstGeom>
          <a:solidFill>
            <a:srgbClr val="24356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126480" y="15544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Reda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NAMLA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126480" y="24231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 M2 – Double Diplôme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Management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ENCG × EMLV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6126480" y="3337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recherche d'alternance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126480" y="3703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0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5664" y="4078224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821424" y="411480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https://github.com/mohamed2155/LUXMODE-Projet-</a:t>
            </a:r>
            <a:endParaRPr lang="en-US" sz="9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440" y="4114800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412480" y="41148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/>
              </a:rPr>
              <a:t>LinkedIn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LUXMODE S.A. — Profil de l'Entreprise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15568"/>
            <a:ext cx="2560320" cy="1371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2633472"/>
            <a:ext cx="868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2651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20040" y="3054096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Fondée à Lyon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280160" y="2633472"/>
            <a:ext cx="868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280160" y="2651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280160" y="3054096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Familles produits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240280" y="2633472"/>
            <a:ext cx="8686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240280" y="26517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240280" y="3054096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 de vente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108960" y="1115568"/>
            <a:ext cx="571500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337560" y="1234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337560" y="1536192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française spécialisée dans la conception, fabrication et distribution de prêt-à-porter moyen/haut de gamme, commercialisant ses collections via 3 canaux complémentaires.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337560" y="21762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 de distribution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383280" y="2487168"/>
            <a:ext cx="137160" cy="137160"/>
          </a:xfrm>
          <a:prstGeom prst="line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11880" y="24414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Boutiques propres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383280" y="2834640"/>
            <a:ext cx="137160" cy="137160"/>
          </a:xfrm>
          <a:prstGeom prst="line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11880" y="2788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Revendeurs multimarques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383280" y="3182112"/>
            <a:ext cx="137160" cy="137160"/>
          </a:xfrm>
          <a:prstGeom prst="line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11880" y="31363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(depuis 2019)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337560" y="35112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Produits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337560" y="3840480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3337560" y="38404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709160" y="3840480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709160" y="38404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080760" y="3840480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080760" y="38404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Vêtements extérieur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452360" y="3840480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452360" y="3840480"/>
            <a:ext cx="1234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Accessoires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la Supply Chain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207008"/>
            <a:ext cx="45720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Approvisionnement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1148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fournisseurs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25328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&amp; Asie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295144" y="2560320"/>
            <a:ext cx="164592" cy="54864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68880" y="114300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68880" y="114300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8688" y="1207008"/>
            <a:ext cx="45720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6888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56032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Usine Lyon (interne)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560320" y="25328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sous-traitants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560320" y="2916936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&amp; Maroc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443984" y="2560320"/>
            <a:ext cx="164592" cy="54864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17720" y="114300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17720" y="114300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207008"/>
            <a:ext cx="457200" cy="3657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1772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70916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entrepôts centraux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4709160" y="25328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Lyon &amp; Bordeaux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592824" y="2560320"/>
            <a:ext cx="164592" cy="54864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766560" y="1143000"/>
            <a:ext cx="1965960" cy="2926080"/>
          </a:xfrm>
          <a:prstGeom prst="roundRect">
            <a:avLst>
              <a:gd name="adj" fmla="val 37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766560" y="114300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1207008"/>
            <a:ext cx="45720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76656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Aval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6858000" y="2148840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points de vente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858000" y="25328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Belgique · Suisse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1097280" y="4206240"/>
            <a:ext cx="402336" cy="402336"/>
          </a:xfrm>
          <a:prstGeom prst="line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09728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3246120" y="4206240"/>
            <a:ext cx="402336" cy="402336"/>
          </a:xfrm>
          <a:prstGeom prst="line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324612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5394960" y="4206240"/>
            <a:ext cx="402336" cy="402336"/>
          </a:xfrm>
          <a:prstGeom prst="line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539496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7543800" y="4206240"/>
            <a:ext cx="402336" cy="402336"/>
          </a:xfrm>
          <a:prstGeom prst="line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754380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PLANNING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la Demande par Famille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des pics saisonniers (soldes, collections AH/PE) et des creux pour les 4 familles de produits LUXMODE.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5179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Accessoires</a:t>
            </a:r>
            <a:endParaRPr lang="en-US" sz="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1783080"/>
            <a:ext cx="4069080" cy="126187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663440" y="14630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15179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</a:t>
            </a:r>
            <a:endParaRPr lang="en-US" sz="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9160" y="1783080"/>
            <a:ext cx="4069080" cy="12618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0040" y="3063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11480" y="31181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Vêtements Extérieur</a:t>
            </a:r>
            <a:endParaRPr lang="en-US" sz="9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5760" y="3383280"/>
            <a:ext cx="4069080" cy="12618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663440" y="3063240"/>
            <a:ext cx="41605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4754880" y="31181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Hauts</a:t>
            </a:r>
            <a:endParaRPr lang="en-US" sz="9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09160" y="3383280"/>
            <a:ext cx="4069080" cy="12618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des Prévisions — Comparaison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618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Mobile Pondérée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212140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Lissage adaptatif pondéré sur les semaines passées.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1430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2618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Lissage Exponentiel Simple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0" y="212140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optimisé via Solveur Excel (minimisation RMSE/MAPE). Méthode gagnante.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11430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12618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09160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Exponentielle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09160" y="212140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la tendance via les paramètres α et β.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66560" y="1143000"/>
            <a:ext cx="1920240" cy="2286000"/>
          </a:xfrm>
          <a:prstGeom prst="roundRect">
            <a:avLst>
              <a:gd name="adj" fmla="val 3810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126187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0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2121408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multi-variable intégrant saisonnalité et promotions.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566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MAPE par Famille (objectif : minimiser l'erreur)</a:t>
            </a:r>
            <a:endParaRPr lang="en-US" sz="10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886200"/>
          <a:ext cx="8412480" cy="11430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2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MMP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LES 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E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Holt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 Régr.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Accessoires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14,23%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11,97%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Hauts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27,19%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9,49%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15,63%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Vêt. Ext.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13,73%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12,29%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Modèle Gagnant — 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1338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1517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Gagnante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1115568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338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468880" y="1517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Best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17720" y="1115568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1338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17720" y="1517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 Moyen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766560" y="1115568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113385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0" y="151790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Réelle Moy.</a:t>
            </a:r>
            <a:endParaRPr lang="en-US" sz="8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920240"/>
            <a:ext cx="85039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 — Pilotage Prévisions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interactive S&amp;OP : forecast global et par catégorie, filtres dynamiques pour l'aide à la décision.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463040"/>
            <a:ext cx="850392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4892040"/>
            <a:ext cx="164592" cy="164592"/>
          </a:xfrm>
          <a:prstGeom prst="line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864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Famille &amp; Région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0" y="4892040"/>
            <a:ext cx="164592" cy="164592"/>
          </a:xfrm>
          <a:prstGeom prst="line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01568" y="4864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Taux de service · Retard · CA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53328" y="4892040"/>
            <a:ext cx="164592" cy="164592"/>
          </a:xfrm>
          <a:prstGeom prst="line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54496" y="4864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Interactivité cross-visuals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Power BI — Gestion des Stocks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des niveaux de stock, volumes de sécurité et alertes de réapprovisionnement en temps réel.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463040"/>
            <a:ext cx="850392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4892040"/>
            <a:ext cx="164592" cy="164592"/>
          </a:xfrm>
          <a:prstGeom prst="line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864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ABC-XYZ intégrée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0" y="4892040"/>
            <a:ext cx="164592" cy="164592"/>
          </a:xfrm>
          <a:prstGeom prst="line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01568" y="4864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stock de sécurité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053328" y="4892040"/>
            <a:ext cx="164592" cy="164592"/>
          </a:xfrm>
          <a:prstGeom prst="line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54496" y="48646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EOQ &amp; ROP visuels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STOCKS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Stratégique ABC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594360" cy="1097280"/>
          </a:xfrm>
          <a:prstGeom prst="roundRect">
            <a:avLst>
              <a:gd name="adj" fmla="val 12308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05840" y="12527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valeur · 18 réf.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57276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haute — gestion fine, stock sécurité élevé.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50008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350008"/>
            <a:ext cx="594360" cy="1097280"/>
          </a:xfrm>
          <a:prstGeom prst="roundRect">
            <a:avLst>
              <a:gd name="adj" fmla="val 12308"/>
            </a:avLst>
          </a:prstGeom>
          <a:solidFill>
            <a:srgbClr val="5BB5A2"/>
          </a:solidFill>
          <a:ln w="12700">
            <a:solidFill>
              <a:srgbClr val="5BB5A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50008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05840" y="248716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valeur · 6 réf.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80720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intermédiaire — réapprovisionnement régulier.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584448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584448"/>
            <a:ext cx="594360" cy="1097280"/>
          </a:xfrm>
          <a:prstGeom prst="roundRect">
            <a:avLst>
              <a:gd name="adj" fmla="val 12308"/>
            </a:avLst>
          </a:prstGeom>
          <a:solidFill>
            <a:srgbClr val="A8C4E8"/>
          </a:solidFill>
          <a:ln w="12700">
            <a:solidFill>
              <a:srgbClr val="A8C4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584448"/>
            <a:ext cx="594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005840" y="37216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valeur · 4 réf.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04164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simplifiée — commandes groupées.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115568"/>
            <a:ext cx="41605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1188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EOQ &amp; Stock de Sécurité</a:t>
            </a:r>
            <a:endParaRPr lang="en-US" sz="9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1508760"/>
            <a:ext cx="406908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STOCKS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: EOQ &amp; Point de Commande (ROP)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453896"/>
            <a:ext cx="402336" cy="402336"/>
          </a:xfrm>
          <a:prstGeom prst="lin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48132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2252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 Sécurité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" y="1536192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1536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8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 = Z × σd × √LT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4400" y="18470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Garantit le taux de service cible face à l'incertitude de la demande et des délais (Lead Time).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" y="2395728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11480" y="2734056"/>
            <a:ext cx="402336" cy="402336"/>
          </a:xfrm>
          <a:prstGeom prst="lin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761488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14400" y="25054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EOQ — Wilson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14400" y="2816352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14400" y="28163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8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EOQ = √(2DS / H)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14400" y="31272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les coûts de passation et de détention en optimisant la quantité de commande.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20040" y="3675888"/>
            <a:ext cx="4251960" cy="1143000"/>
          </a:xfrm>
          <a:prstGeom prst="roundRect">
            <a:avLst>
              <a:gd name="adj" fmla="val 6400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11480" y="4014216"/>
            <a:ext cx="402336" cy="402336"/>
          </a:xfrm>
          <a:prstGeom prst="line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041648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4400" y="378561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 — Point de Commande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914400" y="4096512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914400" y="4096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D8E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ROP = d̄ × LT + SS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914400" y="44074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 le seuil d'alerte pour déclencher le réapprovisionnement au bon moment.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709160" y="1115568"/>
            <a:ext cx="41148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48006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Calculs EOQ &amp; ROP par Article</a:t>
            </a:r>
            <a:endParaRPr lang="en-US" sz="95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54880" y="1508760"/>
            <a:ext cx="40233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Top 10 Produits par Chiffre d'Affaires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4663440" cy="2560320"/>
          </a:xfrm>
          <a:prstGeom prst="roundRect">
            <a:avLst>
              <a:gd name="adj" fmla="val 357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426464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p.product_id, p.description AS produit,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p.famille,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(v.chiffre_affaires) AS </a:t>
            </a: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total_ca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fact_ventes v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dim_produits p </a:t>
            </a: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v.product_id = p.product_id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p.product_id, p.description, p.famille</a:t>
            </a: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total_ca </a:t>
            </a: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
LIMIT </a:t>
            </a: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37490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4041648"/>
            <a:ext cx="4663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Vêtements Extérieurs dominent le CA (Blouson Cuir Recyclé en tête à 153K€). La jointure fact_ventes × dim_produits valide l'intégrité du schéma en étoile.</a:t>
            </a:r>
            <a:endParaRPr lang="en-US" sz="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0" y="1115568"/>
            <a:ext cx="3703320" cy="36393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Analyse du Taux de Rebut par Site de Production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4663440" cy="2194560"/>
          </a:xfrm>
          <a:prstGeom prst="roundRect">
            <a:avLst>
              <a:gd name="adj" fmla="val 4167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426464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
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site_production,
</a:t>
            </a: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</a:t>
            </a: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(taux_rebut_pct) * 100, 2) AS taux_rebut_moyen_pct,
</a:t>
            </a: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(quantite_produite) AS volume_total_produit
</a:t>
            </a: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fact_production
</a:t>
            </a: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site_production
</a:t>
            </a: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taux_rebut_moyen_pct </a:t>
            </a: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33832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36576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sous-traitant Portugal présente le taux de rebut le plus élevé (4,22%), suivi du Maroc (4,16%). L'usine interne Lyon est la plus performante (4,09%). Ces écarts orientent les décisions de make-or-buy.</a:t>
            </a:r>
            <a:endParaRPr lang="en-US" sz="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0" y="1115568"/>
            <a:ext cx="3703320" cy="36393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737360" cy="256032"/>
          </a:xfrm>
          <a:prstGeom prst="roundRect">
            <a:avLst>
              <a:gd name="adj" fmla="val 25000"/>
            </a:avLst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Fiabilité Fournisseurs &amp; Retards de Livraison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2286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4663440" cy="2468880"/>
          </a:xfrm>
          <a:prstGeom prst="roundRect">
            <a:avLst>
              <a:gd name="adj" fmla="val 370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Query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426464"/>
            <a:ext cx="4480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
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f.nom AS fournisseur, f.pays,
</a:t>
            </a: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</a:t>
            </a:r>
            <a:r>
              <a:rPr lang="en-US" sz="9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(c.retard_jours), 2) AS retard_moyen_jours,
</a:t>
            </a: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(c.commande_id) AS nb_commandes
</a:t>
            </a: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fact_commandes_achat c
</a:t>
            </a: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dim_fournisseurs f </a:t>
            </a: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c.fournisseur_id = f.fournisseur_id
</a:t>
            </a: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c.statut = </a:t>
            </a: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'Livré'
</a:t>
            </a: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f.nom, f.pays
</a:t>
            </a: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retard_moyen_jours </a:t>
            </a:r>
            <a:r>
              <a:rPr lang="en-US" sz="9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36576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3950208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AsiaTex Co. (Chine) présente le retard moyen le plus élevé (3,37j) malgré un volume comparable à TextilEurope. BoutonPlus SAS (France) est le plus fiable (1,35j). Ces insights alimentent les décisions de sourcing.</a:t>
            </a:r>
            <a:endParaRPr lang="en-US" sz="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0640" y="1115568"/>
            <a:ext cx="3703320" cy="36393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1828800" cy="1005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5087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2212848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illustre une maîtrise concrète des outils Data Supply Chain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une capacité à modéliser des problématiques métier réelles.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3017520"/>
            <a:ext cx="5303520" cy="457200"/>
          </a:xfrm>
          <a:prstGeom prst="roundRect">
            <a:avLst>
              <a:gd name="adj" fmla="val 20000"/>
            </a:avLst>
          </a:prstGeom>
          <a:solidFill>
            <a:srgbClr val="3D8EF0"/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0175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alternance dès septembre 2025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26480" y="1005840"/>
            <a:ext cx="2834640" cy="3749040"/>
          </a:xfrm>
          <a:prstGeom prst="roundRect">
            <a:avLst>
              <a:gd name="adj" fmla="val 2581"/>
            </a:avLst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1155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14813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Reda NAMLA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26480" y="189280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Supply Chain Management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ENCG × EMLV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400800" y="2523744"/>
            <a:ext cx="2286000" cy="438912"/>
          </a:xfrm>
          <a:prstGeom prst="roundRect">
            <a:avLst>
              <a:gd name="adj" fmla="val 16667"/>
            </a:avLst>
          </a:prstGeom>
          <a:solidFill>
            <a:srgbClr val="24292E"/>
          </a:solidFill>
          <a:ln w="12700">
            <a:solidFill>
              <a:srgbClr val="24292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57860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93992" y="252374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Projet GitHub disponible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286000" cy="438912"/>
          </a:xfrm>
          <a:prstGeom prst="roundRect">
            <a:avLst>
              <a:gd name="adj" fmla="val 16667"/>
            </a:avLst>
          </a:prstGeom>
          <a:solidFill>
            <a:srgbClr val="0077B5"/>
          </a:solidFill>
          <a:ln w="12700">
            <a:solidFill>
              <a:srgbClr val="0077B5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11810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93992" y="30632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Profil LinkedIn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6217920" y="3657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D8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clés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6217920" y="3950208"/>
            <a:ext cx="1234440" cy="219456"/>
          </a:xfrm>
          <a:prstGeom prst="roundRect">
            <a:avLst>
              <a:gd name="adj" fmla="val 20833"/>
            </a:avLst>
          </a:prstGeom>
          <a:solidFill>
            <a:srgbClr val="3D8EF0">
              <a:alpha val="25000"/>
            </a:srgbClr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217920" y="39502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Planning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7589520" y="3950208"/>
            <a:ext cx="1234440" cy="219456"/>
          </a:xfrm>
          <a:prstGeom prst="roundRect">
            <a:avLst>
              <a:gd name="adj" fmla="val 20833"/>
            </a:avLst>
          </a:prstGeom>
          <a:solidFill>
            <a:srgbClr val="3D8EF0">
              <a:alpha val="25000"/>
            </a:srgbClr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589520" y="395020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/ Data Eng.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6217920" y="4224528"/>
            <a:ext cx="1234440" cy="219456"/>
          </a:xfrm>
          <a:prstGeom prst="roundRect">
            <a:avLst>
              <a:gd name="adj" fmla="val 20833"/>
            </a:avLst>
          </a:prstGeom>
          <a:solidFill>
            <a:srgbClr val="3D8EF0">
              <a:alpha val="25000"/>
            </a:srgbClr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217920" y="422452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7589520" y="4224528"/>
            <a:ext cx="1234440" cy="219456"/>
          </a:xfrm>
          <a:prstGeom prst="roundRect">
            <a:avLst>
              <a:gd name="adj" fmla="val 20833"/>
            </a:avLst>
          </a:prstGeom>
          <a:solidFill>
            <a:srgbClr val="3D8EF0">
              <a:alpha val="25000"/>
            </a:srgbClr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589520" y="422452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stocks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6217920" y="4498848"/>
            <a:ext cx="1234440" cy="219456"/>
          </a:xfrm>
          <a:prstGeom prst="roundRect">
            <a:avLst>
              <a:gd name="adj" fmla="val 20833"/>
            </a:avLst>
          </a:prstGeom>
          <a:solidFill>
            <a:srgbClr val="3D8EF0">
              <a:alpha val="25000"/>
            </a:srgbClr>
          </a:solidFill>
          <a:ln w="12700">
            <a:solidFill>
              <a:srgbClr val="3D8EF0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217920" y="449884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Solveur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1072</Words>
  <Application>Microsoft Office PowerPoint</Application>
  <PresentationFormat>Affichage à l'écran (16:9)</PresentationFormat>
  <Paragraphs>208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Supply Chain – LUXMODE</dc:title>
  <dc:subject>PptxGenJS Presentation</dc:subject>
  <dc:creator>Mohamed Reda Namla</dc:creator>
  <cp:lastModifiedBy>NAMLA Mohamed</cp:lastModifiedBy>
  <cp:revision>2</cp:revision>
  <dcterms:created xsi:type="dcterms:W3CDTF">2026-04-24T23:28:00Z</dcterms:created>
  <dcterms:modified xsi:type="dcterms:W3CDTF">2026-04-25T01:03:46Z</dcterms:modified>
</cp:coreProperties>
</file>